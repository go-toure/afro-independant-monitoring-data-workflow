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8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FB8C1-583E-4070-BF9E-B5F9A6615A74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FB07F-D1AC-4DD4-BD17-1DEFA99FF6A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74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EF32-BE33-BDCB-971B-C1FFF1F7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3A780-B18A-1E04-EDB1-F1E171BFB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CABB2-B165-69ED-5EEE-7945B4169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57531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1753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88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95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26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46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33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118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162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0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910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9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8309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title"/>
          </p:nvPr>
        </p:nvSpPr>
        <p:spPr>
          <a:xfrm>
            <a:off x="581700" y="343100"/>
            <a:ext cx="11194800" cy="1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1"/>
          </p:nvPr>
        </p:nvSpPr>
        <p:spPr>
          <a:xfrm>
            <a:off x="581433" y="1801200"/>
            <a:ext cx="9696000" cy="42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━"/>
              <a:defRPr>
                <a:solidFill>
                  <a:srgbClr val="000000"/>
                </a:solidFill>
              </a:defRPr>
            </a:lvl1pPr>
            <a:lvl2pPr marL="1219139" lvl="1" indent="-423312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─"/>
              <a:defRPr>
                <a:solidFill>
                  <a:srgbClr val="000000"/>
                </a:solidFill>
              </a:defRPr>
            </a:lvl2pPr>
            <a:lvl3pPr marL="1828709" lvl="2" indent="-423312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╌"/>
              <a:defRPr>
                <a:solidFill>
                  <a:srgbClr val="000000"/>
                </a:solidFill>
              </a:defRPr>
            </a:lvl3pPr>
            <a:lvl4pPr marL="2438278" lvl="3" indent="-423312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000000"/>
                </a:solidFill>
              </a:defRPr>
            </a:lvl4pPr>
            <a:lvl5pPr marL="3047848" lvl="4" indent="-423312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000000"/>
                </a:solidFill>
              </a:defRPr>
            </a:lvl5pPr>
            <a:lvl6pPr marL="3657417" lvl="5" indent="-423312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000000"/>
                </a:solidFill>
              </a:defRPr>
            </a:lvl6pPr>
            <a:lvl7pPr marL="4266987" lvl="6" indent="-423312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000000"/>
                </a:solidFill>
              </a:defRPr>
            </a:lvl7pPr>
            <a:lvl8pPr marL="4876557" lvl="7" indent="-423312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000000"/>
                </a:solidFill>
              </a:defRPr>
            </a:lvl8pPr>
            <a:lvl9pPr marL="5486126" lvl="8" indent="-423312" algn="l">
              <a:lnSpc>
                <a:spcPct val="115000"/>
              </a:lnSpc>
              <a:spcBef>
                <a:spcPts val="1067"/>
              </a:spcBef>
              <a:spcAft>
                <a:spcPts val="1067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11408834" y="6333067"/>
            <a:ext cx="732367" cy="52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Calibri"/>
              <a:buNone/>
              <a:defRPr sz="1733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110063">
              <a:buFont typeface="Calibri"/>
              <a:buChar char="•"/>
            </a:pPr>
            <a:r>
              <a:rPr lang="en-US" smtClean="0"/>
              <a:t>*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359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2DD01-21EE-4EF6-994B-C25248519B5E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A6765-6439-4A5B-8826-E8A1AC0E5E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05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C2459-AB77-FC4D-D7AC-8EC4A7C6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2;p6">
            <a:extLst>
              <a:ext uri="{FF2B5EF4-FFF2-40B4-BE49-F238E27FC236}">
                <a16:creationId xmlns:a16="http://schemas.microsoft.com/office/drawing/2014/main" id="{15245A5B-33C8-CD05-D16F-6956999CD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57841"/>
            <a:ext cx="12192000" cy="5269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3200" dirty="0">
                <a:latin typeface="Aptos" panose="020B0004020202020204" pitchFamily="34" charset="0"/>
                <a:cs typeface="Times New Roman"/>
                <a:sym typeface="Calibri"/>
              </a:rPr>
              <a:t>Implementation Status of Planned Activities for Q3 2026</a:t>
            </a:r>
            <a:endParaRPr lang="en-US" sz="1600" dirty="0">
              <a:latin typeface="Aptos" panose="020B0004020202020204" pitchFamily="34" charset="0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E81CFF-AC5E-7D6B-FF84-35EEE8F1C32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7224" y="1124276"/>
          <a:ext cx="11937547" cy="3436478"/>
        </p:xfrm>
        <a:graphic>
          <a:graphicData uri="http://schemas.openxmlformats.org/drawingml/2006/table">
            <a:tbl>
              <a:tblPr firstRow="1" bandRow="1"/>
              <a:tblGrid>
                <a:gridCol w="563671">
                  <a:extLst>
                    <a:ext uri="{9D8B030D-6E8A-4147-A177-3AD203B41FA5}">
                      <a16:colId xmlns:a16="http://schemas.microsoft.com/office/drawing/2014/main" val="1779460187"/>
                    </a:ext>
                  </a:extLst>
                </a:gridCol>
                <a:gridCol w="6503096">
                  <a:extLst>
                    <a:ext uri="{9D8B030D-6E8A-4147-A177-3AD203B41FA5}">
                      <a16:colId xmlns:a16="http://schemas.microsoft.com/office/drawing/2014/main" val="2806127310"/>
                    </a:ext>
                  </a:extLst>
                </a:gridCol>
                <a:gridCol w="1033396">
                  <a:extLst>
                    <a:ext uri="{9D8B030D-6E8A-4147-A177-3AD203B41FA5}">
                      <a16:colId xmlns:a16="http://schemas.microsoft.com/office/drawing/2014/main" val="3361569542"/>
                    </a:ext>
                  </a:extLst>
                </a:gridCol>
                <a:gridCol w="3837384">
                  <a:extLst>
                    <a:ext uri="{9D8B030D-6E8A-4147-A177-3AD203B41FA5}">
                      <a16:colId xmlns:a16="http://schemas.microsoft.com/office/drawing/2014/main" val="57182559"/>
                    </a:ext>
                  </a:extLst>
                </a:gridCol>
              </a:tblGrid>
              <a:tr h="33136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#</a:t>
                      </a:r>
                      <a:endParaRPr lang="en-US" sz="190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0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Achievements</a:t>
                      </a:r>
                      <a:endParaRPr lang="en-US" sz="190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0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Status</a:t>
                      </a:r>
                      <a:endParaRPr lang="en-US" sz="190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0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Comments</a:t>
                      </a: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1200" b="1" i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if any)</a:t>
                      </a:r>
                      <a:endParaRPr lang="en-US" sz="190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520502"/>
                  </a:ext>
                </a:extLst>
              </a:tr>
              <a:tr h="100192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</a:rPr>
                        <a:t>Commence development of phase 1 of the Polio Geo Intelligence Canopy (</a:t>
                      </a:r>
                      <a:r>
                        <a:rPr lang="en-US" sz="1200" kern="100" err="1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</a:rPr>
                        <a:t>PolGIC</a:t>
                      </a: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</a:rPr>
                        <a:t>) following the completion of the APW</a:t>
                      </a:r>
                      <a:endParaRPr lang="en-NG" sz="1600" kern="100">
                        <a:effectLst/>
                        <a:latin typeface="Aptos"/>
                        <a:ea typeface="Calibri"/>
                        <a:cs typeface="Calibri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effectLst/>
                          <a:latin typeface="Calibri"/>
                        </a:rPr>
                        <a:t>Achieved</a:t>
                      </a: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buNone/>
                      </a:pPr>
                      <a:r>
                        <a:rPr lang="en-US" sz="1200" b="0" i="0" u="none" strike="noStrike" kern="100" cap="none" err="1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PolGIC</a:t>
                      </a:r>
                      <a:r>
                        <a:rPr lang="en-US" sz="1200" b="0" i="0" u="none" strike="noStrike" kern="100" cap="none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 APW signed, </a:t>
                      </a:r>
                      <a:r>
                        <a:rPr lang="en-US" sz="1200" b="0" i="0" u="none" strike="noStrike" kern="100" cap="none" noProof="0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Formal project kickoff held</a:t>
                      </a:r>
                      <a:r>
                        <a:rPr lang="en-US" sz="1200" b="0" i="0" u="none" strike="noStrike" kern="100" cap="none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, </a:t>
                      </a:r>
                      <a:r>
                        <a:rPr lang="en-US" sz="1200" b="0" i="0" u="none" strike="noStrike" kern="100" cap="none" noProof="0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Technical workshop </a:t>
                      </a:r>
                      <a:r>
                        <a:rPr lang="en-US" sz="1200" b="0" i="0" u="none" strike="noStrike" kern="100" cap="none" noProof="0" err="1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held,Initial</a:t>
                      </a:r>
                      <a:r>
                        <a:rPr lang="en-US" sz="1200" b="0" i="0" u="none" strike="noStrike" kern="100" cap="none" noProof="0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 dataset introduction </a:t>
                      </a:r>
                      <a:r>
                        <a:rPr lang="en-US" sz="1200" b="0" i="0" u="none" strike="noStrike" kern="100" cap="none" noProof="0" err="1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held,Portal</a:t>
                      </a:r>
                      <a:r>
                        <a:rPr lang="en-US" sz="1200" b="0" i="0" u="none" strike="noStrike" kern="100" cap="none" noProof="0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  <a:sym typeface="Arial"/>
                        </a:rPr>
                        <a:t> access was available for further Esri review and first month report shared</a:t>
                      </a:r>
                      <a:endParaRPr lang="en-US" sz="1200" b="0" i="0" u="none" strike="noStrike" kern="100" cap="none">
                        <a:solidFill>
                          <a:srgbClr val="000000"/>
                        </a:solidFill>
                        <a:effectLst/>
                        <a:latin typeface="Aptos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00548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85725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rgbClr val="000000"/>
                          </a:solidFill>
                          <a:effectLst/>
                          <a:latin typeface="Aptos"/>
                          <a:ea typeface="Calibri"/>
                          <a:cs typeface="Calibri"/>
                        </a:rPr>
                        <a:t>Complete and submit the grant closure report for the WHO AFRO GIS Centre Support Grant</a:t>
                      </a:r>
                      <a:endParaRPr lang="en-NG" sz="1600" kern="100">
                        <a:effectLst/>
                        <a:latin typeface="Aptos"/>
                        <a:ea typeface="Calibri"/>
                        <a:cs typeface="Calibri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0" i="0" u="none" strike="noStrike" noProof="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fontAlgn="auto">
                        <a:buNone/>
                      </a:pPr>
                      <a:endParaRPr lang="en-US" sz="160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513106"/>
                  </a:ext>
                </a:extLst>
              </a:tr>
              <a:tr h="42547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dirty="0"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lvl="0" algn="l">
                        <a:lnSpc>
                          <a:spcPct val="114999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Aptos"/>
                        <a:ea typeface="Calibri"/>
                        <a:cs typeface="Calibri"/>
                      </a:endParaRPr>
                    </a:p>
                  </a:txBody>
                  <a:tcPr marL="0" marR="0" marT="0" marB="0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0" i="0" u="none" strike="noStrike" noProof="0">
                        <a:effectLst/>
                        <a:latin typeface="Calibri"/>
                      </a:endParaRP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600">
                        <a:effectLst/>
                        <a:latin typeface="Calibri"/>
                      </a:endParaRP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074271"/>
                  </a:ext>
                </a:extLst>
              </a:tr>
              <a:tr h="43514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lvl="0" algn="l">
                        <a:lnSpc>
                          <a:spcPct val="114999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Aptos"/>
                        <a:ea typeface="Calibri"/>
                        <a:cs typeface="Calibri"/>
                      </a:endParaRPr>
                    </a:p>
                  </a:txBody>
                  <a:tcPr marL="0" marR="0" marT="0" marB="0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0" i="0" u="none" strike="noStrike" noProof="0">
                        <a:effectLst/>
                        <a:latin typeface="Calibri"/>
                      </a:endParaRP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600">
                        <a:effectLst/>
                        <a:latin typeface="Calibri"/>
                      </a:endParaRP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828728"/>
                  </a:ext>
                </a:extLst>
              </a:tr>
              <a:tr h="8219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85725" lvl="0" algn="l">
                        <a:lnSpc>
                          <a:spcPct val="114999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Aptos"/>
                        <a:ea typeface="Calibri"/>
                        <a:cs typeface="Calibri"/>
                      </a:endParaRPr>
                    </a:p>
                  </a:txBody>
                  <a:tcPr marL="0" marR="0" marT="0" marB="0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b="0" i="0" u="none" strike="noStrike" noProof="0">
                        <a:effectLst/>
                        <a:latin typeface="Calibri"/>
                      </a:endParaRP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endParaRPr lang="en-US" sz="1600" dirty="0">
                        <a:effectLst/>
                        <a:latin typeface="Calibri"/>
                      </a:endParaRPr>
                    </a:p>
                  </a:txBody>
                  <a:tcPr marL="87527" marR="87527" marT="43764" marB="43764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45985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8613418-D71D-7588-4C94-38C265427524}"/>
              </a:ext>
            </a:extLst>
          </p:cNvPr>
          <p:cNvSpPr txBox="1"/>
          <p:nvPr/>
        </p:nvSpPr>
        <p:spPr>
          <a:xfrm>
            <a:off x="10037523" y="547805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NG" sz="24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37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2;p6">
            <a:extLst>
              <a:ext uri="{FF2B5EF4-FFF2-40B4-BE49-F238E27FC236}">
                <a16:creationId xmlns:a16="http://schemas.microsoft.com/office/drawing/2014/main" id="{F48D694D-7CBC-922F-8D5A-7EBAE35F6C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83536"/>
            <a:ext cx="12192000" cy="86033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US" sz="2667">
                <a:latin typeface="Aptos" panose="020B0004020202020204" pitchFamily="34" charset="0"/>
                <a:cs typeface="Times New Roman"/>
                <a:sym typeface="Calibri"/>
              </a:rPr>
              <a:t>Key Activities Implementations in the Past Quarter</a:t>
            </a:r>
            <a:r>
              <a:rPr lang="en-US" sz="2667">
                <a:latin typeface="Aptos" panose="020B0004020202020204" pitchFamily="34" charset="0"/>
                <a:cs typeface="Times New Roman"/>
              </a:rPr>
              <a:t/>
            </a:r>
            <a:br>
              <a:rPr lang="en-US" sz="2667">
                <a:latin typeface="Aptos" panose="020B0004020202020204" pitchFamily="34" charset="0"/>
                <a:cs typeface="Times New Roman"/>
              </a:rPr>
            </a:br>
            <a:r>
              <a:rPr lang="en-US" sz="320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</a:rPr>
              <a:t>- </a:t>
            </a:r>
            <a:r>
              <a:rPr lang="en-US" sz="2133" i="1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</a:rPr>
              <a:t>Unplanned but Achieved</a:t>
            </a:r>
            <a:endParaRPr lang="en-US" sz="2667">
              <a:solidFill>
                <a:schemeClr val="dk1"/>
              </a:solidFill>
              <a:latin typeface="Aptos" panose="020B0004020202020204" pitchFamily="34" charset="0"/>
              <a:cs typeface="Times New Roma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1F0252-73BF-F88E-956F-21B8DD941BB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92957" y="1769615"/>
          <a:ext cx="11806087" cy="2836388"/>
        </p:xfrm>
        <a:graphic>
          <a:graphicData uri="http://schemas.openxmlformats.org/drawingml/2006/table">
            <a:tbl>
              <a:tblPr firstRow="1" bandRow="1"/>
              <a:tblGrid>
                <a:gridCol w="500371">
                  <a:extLst>
                    <a:ext uri="{9D8B030D-6E8A-4147-A177-3AD203B41FA5}">
                      <a16:colId xmlns:a16="http://schemas.microsoft.com/office/drawing/2014/main" val="379706714"/>
                    </a:ext>
                  </a:extLst>
                </a:gridCol>
                <a:gridCol w="5345967">
                  <a:extLst>
                    <a:ext uri="{9D8B030D-6E8A-4147-A177-3AD203B41FA5}">
                      <a16:colId xmlns:a16="http://schemas.microsoft.com/office/drawing/2014/main" val="234423117"/>
                    </a:ext>
                  </a:extLst>
                </a:gridCol>
                <a:gridCol w="5959749">
                  <a:extLst>
                    <a:ext uri="{9D8B030D-6E8A-4147-A177-3AD203B41FA5}">
                      <a16:colId xmlns:a16="http://schemas.microsoft.com/office/drawing/2014/main" val="3602452970"/>
                    </a:ext>
                  </a:extLst>
                </a:gridCol>
              </a:tblGrid>
              <a:tr h="45068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#</a:t>
                      </a:r>
                      <a:endParaRPr lang="en-US" sz="150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0F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Achievements</a:t>
                      </a:r>
                      <a:endParaRPr lang="en-US" sz="150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0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5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Comments supporting prioritization</a:t>
                      </a:r>
                      <a:endParaRPr lang="en-US" sz="1500">
                        <a:effectLst/>
                        <a:latin typeface="Calibri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9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58391"/>
                  </a:ext>
                </a:extLst>
              </a:tr>
              <a:tr h="781832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>
                          <a:latin typeface="Calibri"/>
                        </a:rPr>
                        <a:t>1</a:t>
                      </a: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IM Workflow Automation: end-to-end pipeline — ONA API fetch → repository build → geoname standardization → SharePoint upload → Intelligence Report/Brief/Deck generation; scheduled unattended runs (Mon-Fri); automated failure alerting.</a:t>
                      </a:r>
                      <a:endParaRPr lang="en-US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fontAlgn="auto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j-lt"/>
                        </a:rPr>
                        <a:t>Eliminates a previously manual, multi-step data-consolidation and reporting process; replaces ad hoc report generation with a reliable scheduled cadence and a monitored safety net so a failed run is caught the same night rather than discovered days later.</a:t>
                      </a:r>
                      <a:endParaRPr lang="en-US" sz="1100">
                        <a:effectLst/>
                        <a:latin typeface="+mj-lt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391289"/>
                  </a:ext>
                </a:extLst>
              </a:tr>
              <a:tr h="45638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>
                          <a:latin typeface="Calibri"/>
                        </a:rPr>
                        <a:t>2</a:t>
                      </a: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LQAS Pipeline Automation: manual Power BI export → direct GPEI REST API refresh; automated weekly scheduling (Mon); data validation safeguards (schema/status checks, row-count-collapse detection, auto-backup).</a:t>
                      </a:r>
                      <a:endParaRPr lang="en-US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fontAlgn="auto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j-lt"/>
                        </a:rPr>
                        <a:t>Removes a recurring manual download step that was easy to forget and prone to going stale; added data-quality safeguards (column and status checks, row-count-collapse detection, automatic backups) so a bad fetch can never silently corrupt the production lookup file.</a:t>
                      </a:r>
                      <a:endParaRPr lang="en-US" sz="1100">
                        <a:effectLst/>
                        <a:latin typeface="+mj-lt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810605"/>
                  </a:ext>
                </a:extLst>
              </a:tr>
              <a:tr h="61286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>
                          <a:latin typeface="Calibri"/>
                        </a:rPr>
                        <a:t>3</a:t>
                      </a: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AFRO-SIA Dashboard — SIA Scope Data Pipeline: root-caused and resolved critical data-completeness defect in GPEI scope ingestion (silent multi-country record loss); validated via cross-source comparison and API-level diagnostics.</a:t>
                      </a:r>
                      <a:endParaRPr lang="en-US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fontAlgn="auto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j-lt"/>
                        </a:rPr>
                        <a:t>Root-caused through systematic validation against the original manual GPEI export and direct API-level investigation. Left unaddressed, SIA scope coverage maps and completeness metrics used for program monitoring would have remained materially understated ahead of upcoming reporting cycles.</a:t>
                      </a:r>
                      <a:endParaRPr lang="en-US" sz="1100">
                        <a:effectLst/>
                        <a:latin typeface="+mj-lt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865407"/>
                  </a:ext>
                </a:extLst>
              </a:tr>
              <a:tr h="534623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>
                          <a:latin typeface="Calibri"/>
                        </a:rPr>
                        <a:t>4</a:t>
                      </a: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AFRO-SIA Dashboard — Scope Summary Map: new feature — period-level scope aggregation across rounds; automated round-consistency footnotes; PNG/PDF export.</a:t>
                      </a:r>
                      <a:endParaRPr lang="en-US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fontAlgn="auto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j-lt"/>
                        </a:rPr>
                        <a:t>Improves the speed and reliability of period-over-period SIA geographic coverage reporting and automatically flags rounds where scope or vaccine composition changed within the same country/period, work previously done through manual cross-checking.</a:t>
                      </a:r>
                      <a:endParaRPr lang="en-US" sz="1100">
                        <a:effectLst/>
                        <a:latin typeface="+mj-lt"/>
                      </a:endParaRPr>
                    </a:p>
                  </a:txBody>
                  <a:tcPr marL="87528" marR="87528" marT="43764" marB="4376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70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5756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Widescreen</PresentationFormat>
  <Paragraphs>22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Times New Roman</vt:lpstr>
      <vt:lpstr>Office Theme</vt:lpstr>
      <vt:lpstr>Implementation Status of Planned Activities for Q3 2026</vt:lpstr>
      <vt:lpstr>Key Activities Implementations in the Past Quarter - Unplanned but Achieved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Status of Planned Activities for Q3 2026</dc:title>
  <dc:creator>TOURE</dc:creator>
  <cp:lastModifiedBy>TOURE</cp:lastModifiedBy>
  <cp:revision>1</cp:revision>
  <dcterms:created xsi:type="dcterms:W3CDTF">2026-09-10T10:28:47Z</dcterms:created>
  <dcterms:modified xsi:type="dcterms:W3CDTF">2026-09-10T10:29:01Z</dcterms:modified>
</cp:coreProperties>
</file>